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K Modular" charset="1" panose="00000800000000000000"/>
      <p:regular r:id="rId15"/>
    </p:embeddedFont>
    <p:embeddedFont>
      <p:font typeface="Gruppo" charset="1" panose="02000604060000020004"/>
      <p:regular r:id="rId16"/>
    </p:embeddedFont>
    <p:embeddedFont>
      <p:font typeface="Raleway Light" charset="1" panose="00000000000000000000"/>
      <p:regular r:id="rId17"/>
    </p:embeddedFont>
    <p:embeddedFont>
      <p:font typeface="Raleway" charset="1" panose="00000000000000000000"/>
      <p:regular r:id="rId18"/>
    </p:embeddedFont>
    <p:embeddedFont>
      <p:font typeface="Raleway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jpeg" Type="http://schemas.openxmlformats.org/officeDocument/2006/relationships/image"/><Relationship Id="rId7" Target="https://www.youtube.com/watch?v=O0wngCI6Fgo" TargetMode="External" Type="http://schemas.openxmlformats.org/officeDocument/2006/relationships/video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4235" y="-723790"/>
            <a:ext cx="3513477" cy="1884501"/>
          </a:xfrm>
          <a:custGeom>
            <a:avLst/>
            <a:gdLst/>
            <a:ahLst/>
            <a:cxnLst/>
            <a:rect r="r" b="b" t="t" l="l"/>
            <a:pathLst>
              <a:path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72862" y="2318984"/>
            <a:ext cx="3799594" cy="678844"/>
          </a:xfrm>
          <a:custGeom>
            <a:avLst/>
            <a:gdLst/>
            <a:ahLst/>
            <a:cxnLst/>
            <a:rect r="r" b="b" t="t" l="l"/>
            <a:pathLst>
              <a:path h="678844" w="3799594">
                <a:moveTo>
                  <a:pt x="0" y="0"/>
                </a:moveTo>
                <a:lnTo>
                  <a:pt x="3799594" y="0"/>
                </a:lnTo>
                <a:lnTo>
                  <a:pt x="3799594" y="678844"/>
                </a:lnTo>
                <a:lnTo>
                  <a:pt x="0" y="678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7249" y="8933667"/>
            <a:ext cx="3513477" cy="1884501"/>
          </a:xfrm>
          <a:custGeom>
            <a:avLst/>
            <a:gdLst/>
            <a:ahLst/>
            <a:cxnLst/>
            <a:rect r="r" b="b" t="t" l="l"/>
            <a:pathLst>
              <a:path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2"/>
                </a:lnTo>
                <a:lnTo>
                  <a:pt x="0" y="1884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17129" y="7588707"/>
            <a:ext cx="2311059" cy="638693"/>
          </a:xfrm>
          <a:custGeom>
            <a:avLst/>
            <a:gdLst/>
            <a:ahLst/>
            <a:cxnLst/>
            <a:rect r="r" b="b" t="t" l="l"/>
            <a:pathLst>
              <a:path h="638693" w="2311059">
                <a:moveTo>
                  <a:pt x="0" y="0"/>
                </a:moveTo>
                <a:lnTo>
                  <a:pt x="2311059" y="0"/>
                </a:lnTo>
                <a:lnTo>
                  <a:pt x="2311059" y="638693"/>
                </a:lnTo>
                <a:lnTo>
                  <a:pt x="0" y="638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42048" y="3481267"/>
            <a:ext cx="12612187" cy="287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2"/>
              </a:lnSpc>
            </a:pPr>
            <a:r>
              <a:rPr lang="en-US" sz="1031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COMPUTAÇÃO GRAFICA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93627" y="6759084"/>
            <a:ext cx="8100746" cy="34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5"/>
              </a:lnSpc>
              <a:spcBef>
                <a:spcPct val="0"/>
              </a:spcBef>
            </a:pPr>
            <a:r>
              <a:rPr lang="en-US" sz="23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Diogo Pereira, Elcio Wippel e Sergio.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20662" y="860330"/>
            <a:ext cx="9659416" cy="86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PLACAS GRAFICAS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6071" y="3287040"/>
            <a:ext cx="6704049" cy="224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A placa gráfica, também chamada de GPU (Graphics Processing Unit), é responsável pelo processamento e renderização de imagens, vídeos e gráficos 2D e 3D.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021715" y="3058340"/>
            <a:ext cx="7571393" cy="269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3"/>
              </a:lnSpc>
            </a:pPr>
            <a:r>
              <a:rPr lang="en-US" sz="279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Principais funções:</a:t>
            </a:r>
          </a:p>
          <a:p>
            <a:pPr algn="just" marL="602515" indent="-301257" lvl="1">
              <a:lnSpc>
                <a:spcPts val="3013"/>
              </a:lnSpc>
              <a:buFont typeface="Arial"/>
              <a:buChar char="•"/>
            </a:pPr>
            <a:r>
              <a:rPr lang="en-US" sz="279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Processamento de gráficos e imagens;</a:t>
            </a:r>
          </a:p>
          <a:p>
            <a:pPr algn="just" marL="602515" indent="-301257" lvl="1">
              <a:lnSpc>
                <a:spcPts val="3013"/>
              </a:lnSpc>
              <a:buFont typeface="Arial"/>
              <a:buChar char="•"/>
            </a:pPr>
            <a:r>
              <a:rPr lang="en-US" sz="279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Renderização de ambientes 2D e 3D;</a:t>
            </a:r>
          </a:p>
          <a:p>
            <a:pPr algn="just" marL="602515" indent="-301257" lvl="1">
              <a:lnSpc>
                <a:spcPts val="3013"/>
              </a:lnSpc>
              <a:buFont typeface="Arial"/>
              <a:buChar char="•"/>
            </a:pPr>
            <a:r>
              <a:rPr lang="en-US" sz="279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Processamento de iluminação e sombras;</a:t>
            </a:r>
          </a:p>
          <a:p>
            <a:pPr algn="just" marL="602515" indent="-301257" lvl="1">
              <a:lnSpc>
                <a:spcPts val="3013"/>
              </a:lnSpc>
              <a:buFont typeface="Arial"/>
              <a:buChar char="•"/>
            </a:pPr>
            <a:r>
              <a:rPr lang="en-US" sz="279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Execução de shaders e efeitos visuais;</a:t>
            </a:r>
          </a:p>
          <a:p>
            <a:pPr algn="just" marL="602515" indent="-301257" lvl="1">
              <a:lnSpc>
                <a:spcPts val="3013"/>
              </a:lnSpc>
              <a:buFont typeface="Arial"/>
              <a:buChar char="•"/>
            </a:pPr>
            <a:r>
              <a:rPr lang="en-US" sz="279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Suporte a tecnologias como Ray Tracing.</a:t>
            </a:r>
          </a:p>
          <a:p>
            <a:pPr algn="just">
              <a:lnSpc>
                <a:spcPts val="301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467649"/>
            <a:ext cx="18288000" cy="110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GPU x CPU:</a:t>
            </a:r>
          </a:p>
          <a:p>
            <a:pPr algn="ctr">
              <a:lnSpc>
                <a:spcPts val="2915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 CPU é mais adequada para tarefas gerais, enquanto a GPU possui milhares de núcleos capazes de realizar muitos cálculos gráficos simultaneamente.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10688" y="1496848"/>
            <a:ext cx="11666624" cy="86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COMO A GPU FUNCIONA?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93808" y="2807534"/>
            <a:ext cx="13441159" cy="756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Para transformar um modelo 3D em uma imagem na tela, diversas etapas de processamento são realizadas: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08" y="3835739"/>
            <a:ext cx="3673704" cy="409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Modelo 3D</a:t>
            </a:r>
          </a:p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 ↓</a:t>
            </a:r>
          </a:p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Geometria e vértices</a:t>
            </a:r>
          </a:p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 ↓</a:t>
            </a:r>
          </a:p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Shaders e texturas</a:t>
            </a:r>
          </a:p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 ↓</a:t>
            </a:r>
          </a:p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Rasterização</a:t>
            </a:r>
          </a:p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 ↓</a:t>
            </a:r>
          </a:p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Iluminação e efeitos</a:t>
            </a:r>
          </a:p>
          <a:p>
            <a:pPr algn="just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 ↓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Imagem final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29616" y="3835739"/>
            <a:ext cx="7390075" cy="409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9"/>
              </a:lnSpc>
              <a:spcBef>
                <a:spcPct val="0"/>
              </a:spcBef>
            </a:pPr>
            <a:r>
              <a:rPr lang="en-US" sz="276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Principais elementos</a:t>
            </a:r>
          </a:p>
          <a:p>
            <a:pPr algn="just">
              <a:lnSpc>
                <a:spcPts val="2989"/>
              </a:lnSpc>
              <a:spcBef>
                <a:spcPct val="0"/>
              </a:spcBef>
            </a:pPr>
            <a:r>
              <a:rPr lang="en-US" b="true" sz="2767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VRAM</a:t>
            </a:r>
            <a:r>
              <a:rPr lang="en-US" sz="276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memória utilizada para armazenar texturas, modelos e outros dados gráficos.</a:t>
            </a:r>
          </a:p>
          <a:p>
            <a:pPr algn="just">
              <a:lnSpc>
                <a:spcPts val="2989"/>
              </a:lnSpc>
              <a:spcBef>
                <a:spcPct val="0"/>
              </a:spcBef>
            </a:pPr>
            <a:r>
              <a:rPr lang="en-US" b="true" sz="2767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Shaders</a:t>
            </a:r>
            <a:r>
              <a:rPr lang="en-US" sz="276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programas responsáveis por definir como elementos da cena serão processados e exibidos.</a:t>
            </a:r>
          </a:p>
          <a:p>
            <a:pPr algn="just">
              <a:lnSpc>
                <a:spcPts val="2989"/>
              </a:lnSpc>
              <a:spcBef>
                <a:spcPct val="0"/>
              </a:spcBef>
            </a:pPr>
            <a:r>
              <a:rPr lang="en-US" b="true" sz="2767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Rasterização</a:t>
            </a:r>
            <a:r>
              <a:rPr lang="en-US" sz="276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transforma objetos 3D em pixels.</a:t>
            </a:r>
          </a:p>
          <a:p>
            <a:pPr algn="just">
              <a:lnSpc>
                <a:spcPts val="2989"/>
              </a:lnSpc>
              <a:spcBef>
                <a:spcPct val="0"/>
              </a:spcBef>
            </a:pPr>
            <a:r>
              <a:rPr lang="en-US" b="true" sz="2767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Ray Tracing</a:t>
            </a:r>
            <a:r>
              <a:rPr lang="en-US" sz="276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simula o comportamento da luz para produzir reflexos, sombras e iluminação mais realistas.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39566" y="990600"/>
            <a:ext cx="6208868" cy="86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GPU EM AÇÃO</a:t>
            </a:r>
          </a:p>
        </p:txBody>
      </p:sp>
      <p:pic>
        <p:nvPicPr>
          <p:cNvPr name="Picture 7" id="7"/>
          <p:cNvPicPr>
            <a:picLocks noChangeAspect="true"/>
          </p:cNvPicPr>
          <p:nvPr>
            <a:videoFile r:link="rId7"/>
          </p:nvPr>
        </p:nvPicPr>
        <p:blipFill>
          <a:blip r:embed="rId6"/>
          <a:stretch>
            <a:fillRect/>
          </a:stretch>
        </p:blipFill>
        <p:spPr>
          <a:xfrm rot="0">
            <a:off x="3653314" y="2057400"/>
            <a:ext cx="10981372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05059" y="1496848"/>
            <a:ext cx="8907791" cy="173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O QUE É UM MOTOR GRAFICO?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44171"/>
            <a:ext cx="16230600" cy="200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3"/>
              </a:lnSpc>
            </a:pPr>
            <a:r>
              <a:rPr lang="en-US" sz="2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Um motor gráfico é um conjunto de ferramentas e recursos que facilita a criação de jogos e aplicações gráficas, evitando que sistemas básicos precisem ser desenvolvidos do zero. Ele oferece recursos como renderização de gráficos, ilumi</a:t>
            </a:r>
            <a:r>
              <a:rPr lang="en-US" sz="2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nação, física, animações e gerenciamento de cenas, permitindo que desenvolvedores e artistas se concentrem na criação do projeto.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294258"/>
            <a:ext cx="16230600" cy="100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3"/>
              </a:lnSpc>
            </a:pPr>
            <a:r>
              <a:rPr lang="en-US" sz="285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Dentre os principais motores gráficos temos: Unreal Engine, Unreal Engine Fortnite, Unity, Godot, RE Engine (Capcom), Cry Engine (CryTech) e RAGE (Rockstar Games).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06462" y="2345931"/>
            <a:ext cx="3598971" cy="5754169"/>
          </a:xfrm>
          <a:custGeom>
            <a:avLst/>
            <a:gdLst/>
            <a:ahLst/>
            <a:cxnLst/>
            <a:rect r="r" b="b" t="t" l="l"/>
            <a:pathLst>
              <a:path h="5754169" w="3598971">
                <a:moveTo>
                  <a:pt x="0" y="0"/>
                </a:moveTo>
                <a:lnTo>
                  <a:pt x="3598971" y="0"/>
                </a:lnTo>
                <a:lnTo>
                  <a:pt x="3598971" y="5754169"/>
                </a:lnTo>
                <a:lnTo>
                  <a:pt x="0" y="5754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6071" y="2789195"/>
            <a:ext cx="8134270" cy="86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UNITY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6071" y="4418162"/>
            <a:ext cx="10422130" cy="409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A Unity é uma engine utilizada para o desenvolvimento de jogos e aplicações interativas em 2D e 3D.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Principais características:</a:t>
            </a:r>
          </a:p>
          <a:p>
            <a:pPr algn="l" marL="599704" indent="-299852" lvl="1">
              <a:lnSpc>
                <a:spcPts val="2999"/>
              </a:lnSpc>
              <a:buFont typeface="Arial"/>
              <a:buChar char="•"/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Desenvolvimento em C#;</a:t>
            </a:r>
          </a:p>
          <a:p>
            <a:pPr algn="l" marL="599704" indent="-299852" lvl="1">
              <a:lnSpc>
                <a:spcPts val="2999"/>
              </a:lnSpc>
              <a:buFont typeface="Arial"/>
              <a:buChar char="•"/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Suporte para diferentes plataformas;</a:t>
            </a:r>
          </a:p>
          <a:p>
            <a:pPr algn="l" marL="599704" indent="-299852" lvl="1">
              <a:lnSpc>
                <a:spcPts val="2999"/>
              </a:lnSpc>
              <a:buFont typeface="Arial"/>
              <a:buChar char="•"/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Ferramentas para criação de jogos 2D e 3D;</a:t>
            </a:r>
          </a:p>
          <a:p>
            <a:pPr algn="l" marL="599704" indent="-299852" lvl="1">
              <a:lnSpc>
                <a:spcPts val="2999"/>
              </a:lnSpc>
              <a:buFont typeface="Arial"/>
              <a:buChar char="•"/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Grande biblioteca de recursos e assets;</a:t>
            </a:r>
          </a:p>
          <a:p>
            <a:pPr algn="l" marL="599704" indent="-299852" lvl="1">
              <a:lnSpc>
                <a:spcPts val="2999"/>
              </a:lnSpc>
              <a:buFont typeface="Arial"/>
              <a:buChar char="•"/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Suporte a VR e AR;</a:t>
            </a:r>
          </a:p>
          <a:p>
            <a:pPr algn="l" marL="599704" indent="-299852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Comunidade e ecossistema amplos.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873687" y="3291828"/>
            <a:ext cx="3965809" cy="3965809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38492" t="0" r="-38492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60094" y="3045843"/>
            <a:ext cx="4199206" cy="2364187"/>
          </a:xfrm>
          <a:custGeom>
            <a:avLst/>
            <a:gdLst/>
            <a:ahLst/>
            <a:cxnLst/>
            <a:rect r="r" b="b" t="t" l="l"/>
            <a:pathLst>
              <a:path h="2364187" w="4199206">
                <a:moveTo>
                  <a:pt x="0" y="0"/>
                </a:moveTo>
                <a:lnTo>
                  <a:pt x="4199206" y="0"/>
                </a:lnTo>
                <a:lnTo>
                  <a:pt x="4199206" y="2364187"/>
                </a:lnTo>
                <a:lnTo>
                  <a:pt x="0" y="2364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60094" y="5208679"/>
            <a:ext cx="4199206" cy="2101354"/>
          </a:xfrm>
          <a:custGeom>
            <a:avLst/>
            <a:gdLst/>
            <a:ahLst/>
            <a:cxnLst/>
            <a:rect r="r" b="b" t="t" l="l"/>
            <a:pathLst>
              <a:path h="2101354" w="4199206">
                <a:moveTo>
                  <a:pt x="0" y="0"/>
                </a:moveTo>
                <a:lnTo>
                  <a:pt x="4199206" y="0"/>
                </a:lnTo>
                <a:lnTo>
                  <a:pt x="4199206" y="2101354"/>
                </a:lnTo>
                <a:lnTo>
                  <a:pt x="0" y="21013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60094" y="7180312"/>
            <a:ext cx="4187714" cy="2191324"/>
          </a:xfrm>
          <a:custGeom>
            <a:avLst/>
            <a:gdLst/>
            <a:ahLst/>
            <a:cxnLst/>
            <a:rect r="r" b="b" t="t" l="l"/>
            <a:pathLst>
              <a:path h="2191324" w="4187714">
                <a:moveTo>
                  <a:pt x="0" y="0"/>
                </a:moveTo>
                <a:lnTo>
                  <a:pt x="4187714" y="0"/>
                </a:lnTo>
                <a:lnTo>
                  <a:pt x="4187714" y="2191324"/>
                </a:lnTo>
                <a:lnTo>
                  <a:pt x="0" y="21913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4801" y="3064893"/>
            <a:ext cx="11532199" cy="578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A Unreal Engine é uma das engines gráficas mais avançadas do mercado, amplamente utilizada para jogos AAA, arquitetura, cinema e simulações devido ao seu alto nível de fidelidade.</a:t>
            </a:r>
          </a:p>
          <a:p>
            <a:pPr algn="l">
              <a:lnSpc>
                <a:spcPts val="3319"/>
              </a:lnSpc>
            </a:pPr>
          </a:p>
          <a:p>
            <a:pPr algn="l">
              <a:lnSpc>
                <a:spcPts val="3319"/>
              </a:lnSpc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Principais características: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Desenvolvimento em C++ e Blueprints;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Renderização fotorrealista, com s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uporte nativo a Ray Tracing e ao sistema Lumen;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ermite usar geometria extremamente detalhada sem perda de desempenho;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Supo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rte para diferentes plataformas;</a:t>
            </a:r>
          </a:p>
          <a:p>
            <a:pPr algn="l" marL="663579" indent="-331789" lvl="1">
              <a:lnSpc>
                <a:spcPts val="3319"/>
              </a:lnSpc>
              <a:spcBef>
                <a:spcPct val="0"/>
              </a:spcBef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Ferra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mentas robustas para cinemáticas, animação facial e captura de movimento.</a:t>
            </a:r>
          </a:p>
          <a:p>
            <a:pPr algn="l">
              <a:lnSpc>
                <a:spcPts val="331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60681" y="909110"/>
            <a:ext cx="1764889" cy="1726402"/>
          </a:xfrm>
          <a:custGeom>
            <a:avLst/>
            <a:gdLst/>
            <a:ahLst/>
            <a:cxnLst/>
            <a:rect r="r" b="b" t="t" l="l"/>
            <a:pathLst>
              <a:path h="1726402" w="1764889">
                <a:moveTo>
                  <a:pt x="0" y="0"/>
                </a:moveTo>
                <a:lnTo>
                  <a:pt x="1764889" y="0"/>
                </a:lnTo>
                <a:lnTo>
                  <a:pt x="1764889" y="1726402"/>
                </a:lnTo>
                <a:lnTo>
                  <a:pt x="0" y="17264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73332" y="1496848"/>
            <a:ext cx="7779635" cy="86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UNREAL ENGINE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65382" y="2132558"/>
            <a:ext cx="4011386" cy="2738987"/>
          </a:xfrm>
          <a:custGeom>
            <a:avLst/>
            <a:gdLst/>
            <a:ahLst/>
            <a:cxnLst/>
            <a:rect r="r" b="b" t="t" l="l"/>
            <a:pathLst>
              <a:path h="2738987" w="4011386">
                <a:moveTo>
                  <a:pt x="0" y="0"/>
                </a:moveTo>
                <a:lnTo>
                  <a:pt x="4011386" y="0"/>
                </a:lnTo>
                <a:lnTo>
                  <a:pt x="4011386" y="2738987"/>
                </a:lnTo>
                <a:lnTo>
                  <a:pt x="0" y="2738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732" r="0" b="-573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96160" y="722212"/>
            <a:ext cx="1765710" cy="1768921"/>
          </a:xfrm>
          <a:custGeom>
            <a:avLst/>
            <a:gdLst/>
            <a:ahLst/>
            <a:cxnLst/>
            <a:rect r="r" b="b" t="t" l="l"/>
            <a:pathLst>
              <a:path h="1768921" w="1765710">
                <a:moveTo>
                  <a:pt x="0" y="0"/>
                </a:moveTo>
                <a:lnTo>
                  <a:pt x="1765711" y="0"/>
                </a:lnTo>
                <a:lnTo>
                  <a:pt x="1765711" y="1768921"/>
                </a:lnTo>
                <a:lnTo>
                  <a:pt x="0" y="17689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180" y="2695209"/>
            <a:ext cx="11532199" cy="701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A Godot é uma engine gráfica gratuita e de código aberto, voltada para o desenvolvimento de jogos 2D e 3D, sendo bastante popular entre desenvolvedores independentes por sua leveza e flexibilidade.</a:t>
            </a:r>
          </a:p>
          <a:p>
            <a:pPr algn="l">
              <a:lnSpc>
                <a:spcPts val="3319"/>
              </a:lnSpc>
            </a:pPr>
          </a:p>
          <a:p>
            <a:pPr algn="l">
              <a:lnSpc>
                <a:spcPts val="3319"/>
              </a:lnSpc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Principais características: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Totalmente gratuita e open sourc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e;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Utiliza linguagem 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própria (GDScript, similar ao Python), além de suporte a C# e C++;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A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rquitetura baseada em cenas e nós, facilitando a organização dos projetos;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Editor com baixo cons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umo de 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recursos comparado a outras engines;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Suporte a PC, mobile, consoles e web;</a:t>
            </a:r>
          </a:p>
          <a:p>
            <a:pPr algn="l" marL="663579" indent="-331789" lvl="1">
              <a:lnSpc>
                <a:spcPts val="3319"/>
              </a:lnSpc>
              <a:buFont typeface="Arial"/>
              <a:buChar char="•"/>
            </a:pP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C</a:t>
            </a:r>
            <a:r>
              <a:rPr lang="en-US" sz="3073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omunidade expansiva com suporte da Godot Foundation;</a:t>
            </a:r>
          </a:p>
          <a:p>
            <a:pPr algn="l">
              <a:lnSpc>
                <a:spcPts val="3319"/>
              </a:lnSpc>
              <a:spcBef>
                <a:spcPct val="0"/>
              </a:spcBef>
            </a:pPr>
          </a:p>
          <a:p>
            <a:pPr algn="l">
              <a:lnSpc>
                <a:spcPts val="331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065382" y="4593713"/>
            <a:ext cx="3987604" cy="2492253"/>
          </a:xfrm>
          <a:custGeom>
            <a:avLst/>
            <a:gdLst/>
            <a:ahLst/>
            <a:cxnLst/>
            <a:rect r="r" b="b" t="t" l="l"/>
            <a:pathLst>
              <a:path h="2492253" w="3987604">
                <a:moveTo>
                  <a:pt x="0" y="0"/>
                </a:moveTo>
                <a:lnTo>
                  <a:pt x="3987605" y="0"/>
                </a:lnTo>
                <a:lnTo>
                  <a:pt x="3987605" y="2492252"/>
                </a:lnTo>
                <a:lnTo>
                  <a:pt x="0" y="24922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77273" y="6815253"/>
            <a:ext cx="3987604" cy="1977817"/>
          </a:xfrm>
          <a:custGeom>
            <a:avLst/>
            <a:gdLst/>
            <a:ahLst/>
            <a:cxnLst/>
            <a:rect r="r" b="b" t="t" l="l"/>
            <a:pathLst>
              <a:path h="1977817" w="3987604">
                <a:moveTo>
                  <a:pt x="0" y="0"/>
                </a:moveTo>
                <a:lnTo>
                  <a:pt x="3987604" y="0"/>
                </a:lnTo>
                <a:lnTo>
                  <a:pt x="3987604" y="1977818"/>
                </a:lnTo>
                <a:lnTo>
                  <a:pt x="0" y="1977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611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79549" y="1269291"/>
            <a:ext cx="8134270" cy="86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GODOT ENGINE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81853" y="9073308"/>
            <a:ext cx="2324294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page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8141" y="3648280"/>
            <a:ext cx="11183517" cy="149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1"/>
              </a:lnSpc>
            </a:pPr>
            <a:r>
              <a:rPr lang="en-US" sz="9453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 YOU!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18141" y="5623010"/>
            <a:ext cx="10916976" cy="756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77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As we look to the future, these technologies will play a crucial role in shaping a better world for generations to 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DAHTB7O1tck</dc:identifier>
  <dcterms:modified xsi:type="dcterms:W3CDTF">2011-08-01T06:04:30Z</dcterms:modified>
  <cp:revision>1</cp:revision>
  <dc:title>Trabalho de Computação Gráfica</dc:title>
</cp:coreProperties>
</file>